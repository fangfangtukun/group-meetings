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74" r:id="rId2"/>
    <p:sldId id="362" r:id="rId3"/>
    <p:sldId id="368" r:id="rId4"/>
    <p:sldId id="381" r:id="rId5"/>
    <p:sldId id="324" r:id="rId6"/>
    <p:sldId id="375" r:id="rId7"/>
    <p:sldId id="376" r:id="rId8"/>
    <p:sldId id="377" r:id="rId9"/>
    <p:sldId id="378" r:id="rId10"/>
    <p:sldId id="383" r:id="rId11"/>
    <p:sldId id="384" r:id="rId12"/>
    <p:sldId id="385" r:id="rId13"/>
    <p:sldId id="386" r:id="rId14"/>
    <p:sldId id="373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6433"/>
  </p:normalViewPr>
  <p:slideViewPr>
    <p:cSldViewPr showGuides="1">
      <p:cViewPr varScale="1">
        <p:scale>
          <a:sx n="71" d="100"/>
          <a:sy n="71" d="100"/>
        </p:scale>
        <p:origin x="1733" y="53"/>
      </p:cViewPr>
      <p:guideLst>
        <p:guide orient="horz" pos="2115"/>
        <p:guide pos="2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2026/10/8</a:t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13CB-74DF-D3E7-BF10-8B1E7711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>
            <a:extLst>
              <a:ext uri="{FF2B5EF4-FFF2-40B4-BE49-F238E27FC236}">
                <a16:creationId xmlns:a16="http://schemas.microsoft.com/office/drawing/2014/main" id="{3E20AEE4-DF76-9C9F-F572-2380402C2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文本占位符 2">
            <a:extLst>
              <a:ext uri="{FF2B5EF4-FFF2-40B4-BE49-F238E27FC236}">
                <a16:creationId xmlns:a16="http://schemas.microsoft.com/office/drawing/2014/main" id="{8C62AF1B-E751-6FB4-C30C-9CE59FF4ACEE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536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FDDE-9F8C-71B5-426B-B9310CC4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2052" descr="a3">
            <a:extLst>
              <a:ext uri="{FF2B5EF4-FFF2-40B4-BE49-F238E27FC236}">
                <a16:creationId xmlns:a16="http://schemas.microsoft.com/office/drawing/2014/main" id="{D84D92BC-E114-F721-2EC9-211440D2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E0B4AB2-D1A1-FA24-D190-0B7AE8FD0F02}"/>
              </a:ext>
            </a:extLst>
          </p:cNvPr>
          <p:cNvSpPr txBox="1"/>
          <p:nvPr/>
        </p:nvSpPr>
        <p:spPr>
          <a:xfrm>
            <a:off x="1259840" y="1485265"/>
            <a:ext cx="7034530" cy="480758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3200" b="1" noProof="1">
                <a:latin typeface="+mn-lt"/>
                <a:ea typeface="+mn-ea"/>
                <a:cs typeface="+mn-lt"/>
              </a:rPr>
              <a:t>ElasticFormer: Detecting Objects in HRW Shots via Elastic Computing Vision</a:t>
            </a:r>
          </a:p>
          <a:p>
            <a:pPr algn="ctr"/>
            <a:r>
              <a:rPr lang="en-US" altLang="zh-CN" sz="3200" b="1" noProof="1">
                <a:latin typeface="+mn-lt"/>
                <a:ea typeface="+mn-ea"/>
                <a:cs typeface="+mn-lt"/>
              </a:rPr>
              <a:t>Transformer</a:t>
            </a:r>
          </a:p>
          <a:p>
            <a:pPr algn="ctr"/>
            <a:endParaRPr lang="en-US" altLang="zh-CN" sz="3200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sz="3200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strike="noStrike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r>
              <a:rPr lang="en-US" altLang="zh-CN" b="1" noProof="1">
                <a:latin typeface="+mn-lt"/>
                <a:ea typeface="+mn-ea"/>
                <a:cs typeface="+mn-lt"/>
              </a:rPr>
              <a:t>CVPR</a:t>
            </a:r>
            <a:r>
              <a:rPr lang="en-US" altLang="zh-CN" b="1" strike="noStrike" noProof="1">
                <a:latin typeface="+mn-lt"/>
                <a:ea typeface="+mn-ea"/>
                <a:cs typeface="+mn-lt"/>
              </a:rPr>
              <a:t> 2026</a:t>
            </a:r>
          </a:p>
          <a:p>
            <a:pPr algn="ctr"/>
            <a:br>
              <a:rPr lang="en-US" altLang="zh-CN" sz="1600" noProof="1">
                <a:solidFill>
                  <a:schemeClr val="accent6"/>
                </a:solidFill>
                <a:latin typeface="+mn-lt"/>
                <a:ea typeface="+mn-ea"/>
                <a:cs typeface="+mn-lt"/>
              </a:rPr>
            </a:br>
            <a:endParaRPr lang="en-US" altLang="zh-CN" sz="1600" noProof="1">
              <a:solidFill>
                <a:schemeClr val="accent6"/>
              </a:solidFill>
              <a:latin typeface="+mn-lt"/>
              <a:ea typeface="+mn-ea"/>
              <a:cs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D4225C-3882-21A7-3F9F-52973A058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214" y="3501008"/>
            <a:ext cx="6293571" cy="21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4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1862-7050-686D-03FF-FC4EE8DB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图片 3076" descr="a4">
            <a:extLst>
              <a:ext uri="{FF2B5EF4-FFF2-40B4-BE49-F238E27FC236}">
                <a16:creationId xmlns:a16="http://schemas.microsoft.com/office/drawing/2014/main" id="{11C36E07-65E2-BF45-25D1-47EC04E2A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" y="-27384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2" name="文本框 1">
            <a:extLst>
              <a:ext uri="{FF2B5EF4-FFF2-40B4-BE49-F238E27FC236}">
                <a16:creationId xmlns:a16="http://schemas.microsoft.com/office/drawing/2014/main" id="{75837254-C942-2E2E-6167-A3F78CE83863}"/>
              </a:ext>
            </a:extLst>
          </p:cNvPr>
          <p:cNvSpPr txBox="1"/>
          <p:nvPr/>
        </p:nvSpPr>
        <p:spPr>
          <a:xfrm>
            <a:off x="682625" y="1052513"/>
            <a:ext cx="850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文本框 1">
            <a:extLst>
              <a:ext uri="{FF2B5EF4-FFF2-40B4-BE49-F238E27FC236}">
                <a16:creationId xmlns:a16="http://schemas.microsoft.com/office/drawing/2014/main" id="{2BE327C5-E9C0-6DED-F492-81E0A3CDD40A}"/>
              </a:ext>
            </a:extLst>
          </p:cNvPr>
          <p:cNvSpPr txBox="1"/>
          <p:nvPr/>
        </p:nvSpPr>
        <p:spPr>
          <a:xfrm>
            <a:off x="4571683" y="4024761"/>
            <a:ext cx="4481830" cy="230832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Contribution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）应该根据前景比例，自适应的分配计算，设计了一种弹性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。骨干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FLOPS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下降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80%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）扩展到弱监督</a:t>
            </a:r>
            <a:r>
              <a:rPr lang="zh-CN" altLang="en-US" dirty="0">
                <a:sym typeface="宋体" panose="02010600030101010101" pitchFamily="2" charset="-122"/>
              </a:rPr>
              <a:t>，当没有</a:t>
            </a:r>
            <a:r>
              <a:rPr lang="en-US" altLang="zh-CN" dirty="0" err="1">
                <a:sym typeface="宋体" panose="02010600030101010101" pitchFamily="2" charset="-122"/>
              </a:rPr>
              <a:t>bbox</a:t>
            </a:r>
            <a:r>
              <a:rPr lang="zh-CN" altLang="en-US" dirty="0">
                <a:sym typeface="宋体" panose="02010600030101010101" pitchFamily="2" charset="-122"/>
              </a:rPr>
              <a:t>作为监督时候，设计了一种三阶段的策略，用于弱监督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C6B927-B57A-C7AF-0EDC-F07BE1935233}"/>
              </a:ext>
            </a:extLst>
          </p:cNvPr>
          <p:cNvSpPr txBox="1"/>
          <p:nvPr/>
        </p:nvSpPr>
        <p:spPr>
          <a:xfrm>
            <a:off x="90488" y="4149080"/>
            <a:ext cx="4354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Motivation</a:t>
            </a:r>
            <a:r>
              <a:rPr lang="en-US" altLang="zh-CN" dirty="0">
                <a:sym typeface="+mn-ea"/>
              </a:rPr>
              <a:t>:</a:t>
            </a:r>
          </a:p>
          <a:p>
            <a:r>
              <a:rPr lang="en-US" altLang="zh-CN" dirty="0">
                <a:sym typeface="+mn-ea"/>
              </a:rPr>
              <a:t>HRW</a:t>
            </a:r>
            <a:r>
              <a:rPr lang="zh-CN" altLang="en-US" dirty="0">
                <a:sym typeface="+mn-ea"/>
              </a:rPr>
              <a:t>超大分辨率图像</a:t>
            </a:r>
            <a:r>
              <a:rPr lang="en-US" altLang="zh-CN" dirty="0">
                <a:sym typeface="+mn-ea"/>
              </a:rPr>
              <a:t>~&gt;</a:t>
            </a:r>
            <a:r>
              <a:rPr lang="zh-CN" altLang="en-US" dirty="0">
                <a:sym typeface="+mn-ea"/>
              </a:rPr>
              <a:t>图太大（十亿像素）、前景占比少，大范围是背景。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图太大</a:t>
            </a:r>
            <a:r>
              <a:rPr lang="en-US" altLang="zh-CN" dirty="0">
                <a:sym typeface="+mn-ea"/>
              </a:rPr>
              <a:t>~&gt; </a:t>
            </a:r>
            <a:r>
              <a:rPr lang="zh-CN" altLang="en-US" dirty="0">
                <a:sym typeface="+mn-ea"/>
              </a:rPr>
              <a:t>计算量过大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前景占比少</a:t>
            </a:r>
            <a:r>
              <a:rPr lang="en-US" altLang="zh-CN" dirty="0">
                <a:sym typeface="+mn-ea"/>
              </a:rPr>
              <a:t>~&gt; </a:t>
            </a:r>
            <a:r>
              <a:rPr lang="zh-CN" altLang="en-US" dirty="0">
                <a:sym typeface="+mn-ea"/>
              </a:rPr>
              <a:t>计算资源浪费在背景上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已有方法的缺点：之前采用固定的比率，无法同时兼顾稀疏和密集的情况。</a:t>
            </a:r>
            <a:r>
              <a:rPr lang="en-US" altLang="zh-CN" dirty="0">
                <a:sym typeface="+mn-ea"/>
              </a:rPr>
              <a:t>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2535B2-0152-25E0-BD9C-9FE408B76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801914"/>
            <a:ext cx="4624610" cy="320625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BE1B1B1-CED8-4209-B908-59CA9BB6B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1" y="1052513"/>
            <a:ext cx="4003779" cy="225212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ED2667-BA67-4C79-B902-8E9535DB4B0C}"/>
              </a:ext>
            </a:extLst>
          </p:cNvPr>
          <p:cNvSpPr txBox="1"/>
          <p:nvPr/>
        </p:nvSpPr>
        <p:spPr>
          <a:xfrm>
            <a:off x="235421" y="3445548"/>
            <a:ext cx="4050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PANDA </a:t>
            </a:r>
            <a:r>
              <a:rPr lang="zh-CN" altLang="en-US" sz="1400" dirty="0"/>
              <a:t>数据集例子，平均分辨率为</a:t>
            </a:r>
            <a:r>
              <a:rPr lang="en-US" altLang="zh-CN" sz="1400" dirty="0"/>
              <a:t>25000*16000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8934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2647-F984-BCFE-D36D-4D2F19F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212AF06C-F14E-595D-E9DB-8115DE1CD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0A1D3E-F336-A7D6-DE09-9AAC8898D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60" y="964741"/>
            <a:ext cx="8406680" cy="49285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0082954-024F-4158-925F-1E17D276F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935227"/>
            <a:ext cx="2664296" cy="8808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B54A8B6-DDB4-1ED9-B338-271B85085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400" y="5911588"/>
            <a:ext cx="2097287" cy="6486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6D75A0-5204-03AD-48E1-0AB91CBB5A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6343" y="6495253"/>
            <a:ext cx="1531400" cy="3551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BB3526C-714C-869B-89D1-E990481CDE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8184" y="6102633"/>
            <a:ext cx="2664897" cy="44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7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54E6-4422-72D3-C017-2D61C821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图片 3076" descr="a4">
            <a:extLst>
              <a:ext uri="{FF2B5EF4-FFF2-40B4-BE49-F238E27FC236}">
                <a16:creationId xmlns:a16="http://schemas.microsoft.com/office/drawing/2014/main" id="{F0CCAED7-97A3-AC52-BDCA-06A951916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2" name="文本框 1">
            <a:extLst>
              <a:ext uri="{FF2B5EF4-FFF2-40B4-BE49-F238E27FC236}">
                <a16:creationId xmlns:a16="http://schemas.microsoft.com/office/drawing/2014/main" id="{D17A73AE-2C04-D857-403C-7F62FEDDF568}"/>
              </a:ext>
            </a:extLst>
          </p:cNvPr>
          <p:cNvSpPr txBox="1"/>
          <p:nvPr/>
        </p:nvSpPr>
        <p:spPr>
          <a:xfrm>
            <a:off x="518125" y="980728"/>
            <a:ext cx="850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FF227C-6BFF-A03E-1976-97169749B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45" y="1349028"/>
            <a:ext cx="8625875" cy="421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1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图片 3076" descr="a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9885F4E-4318-BD9E-B79A-4023E7FF1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967527"/>
            <a:ext cx="8382726" cy="246147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AC5F3D4-BCD2-0617-38C7-567E736B2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074" y="3490585"/>
            <a:ext cx="4601217" cy="3248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FA853-AB8C-A122-F1A7-BF34B682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2052" descr="a3">
            <a:extLst>
              <a:ext uri="{FF2B5EF4-FFF2-40B4-BE49-F238E27FC236}">
                <a16:creationId xmlns:a16="http://schemas.microsoft.com/office/drawing/2014/main" id="{A7162A59-3C01-86F7-FB9B-C2CDCF1BE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73E6987-65D6-7BD4-4B81-562818045370}"/>
              </a:ext>
            </a:extLst>
          </p:cNvPr>
          <p:cNvSpPr txBox="1"/>
          <p:nvPr/>
        </p:nvSpPr>
        <p:spPr>
          <a:xfrm>
            <a:off x="1259840" y="1485265"/>
            <a:ext cx="7034530" cy="480758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3200" b="1" noProof="1">
                <a:latin typeface="+mn-lt"/>
                <a:ea typeface="+mn-ea"/>
                <a:cs typeface="+mn-lt"/>
              </a:rPr>
              <a:t>F2Net: A Frequency-Fused Network for Ultra-High Resolution</a:t>
            </a:r>
          </a:p>
          <a:p>
            <a:pPr algn="ctr"/>
            <a:r>
              <a:rPr lang="en-US" altLang="zh-CN" sz="3200" b="1" noProof="1">
                <a:latin typeface="+mn-lt"/>
                <a:ea typeface="+mn-ea"/>
                <a:cs typeface="+mn-lt"/>
              </a:rPr>
              <a:t>Remote Sensing Segmentation</a:t>
            </a:r>
            <a:br>
              <a:rPr lang="en-US" altLang="zh-CN" sz="3200" b="1" noProof="1">
                <a:latin typeface="+mn-lt"/>
                <a:ea typeface="+mn-ea"/>
                <a:cs typeface="+mn-lt"/>
              </a:rPr>
            </a:br>
            <a:endParaRPr lang="en-US" altLang="zh-CN" sz="3200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sz="3200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sz="3200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strike="noStrike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endParaRPr lang="en-US" altLang="zh-CN" b="1" noProof="1">
              <a:latin typeface="+mn-lt"/>
              <a:ea typeface="+mn-ea"/>
              <a:cs typeface="+mn-lt"/>
            </a:endParaRPr>
          </a:p>
          <a:p>
            <a:pPr algn="ctr"/>
            <a:r>
              <a:rPr lang="en-US" altLang="zh-CN" b="1" noProof="1">
                <a:latin typeface="+mn-lt"/>
                <a:ea typeface="+mn-ea"/>
                <a:cs typeface="+mn-lt"/>
              </a:rPr>
              <a:t>CVPR</a:t>
            </a:r>
            <a:r>
              <a:rPr lang="en-US" altLang="zh-CN" b="1" strike="noStrike" noProof="1">
                <a:latin typeface="+mn-lt"/>
                <a:ea typeface="+mn-ea"/>
                <a:cs typeface="+mn-lt"/>
              </a:rPr>
              <a:t> 2026</a:t>
            </a:r>
          </a:p>
          <a:p>
            <a:pPr algn="ctr"/>
            <a:br>
              <a:rPr lang="en-US" altLang="zh-CN" sz="1600" noProof="1">
                <a:solidFill>
                  <a:schemeClr val="accent6"/>
                </a:solidFill>
                <a:latin typeface="+mn-lt"/>
                <a:ea typeface="+mn-ea"/>
                <a:cs typeface="+mn-lt"/>
              </a:rPr>
            </a:br>
            <a:endParaRPr lang="en-US" altLang="zh-CN" sz="1600" noProof="1">
              <a:solidFill>
                <a:schemeClr val="accent6"/>
              </a:solidFill>
              <a:latin typeface="+mn-lt"/>
              <a:ea typeface="+mn-ea"/>
              <a:cs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60B6E-E866-4A1A-AF54-C1977069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83" y="3717032"/>
            <a:ext cx="7221434" cy="93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4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9167-61FB-A46A-1AB5-F079CEEB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图片 3076" descr="a4">
            <a:extLst>
              <a:ext uri="{FF2B5EF4-FFF2-40B4-BE49-F238E27FC236}">
                <a16:creationId xmlns:a16="http://schemas.microsoft.com/office/drawing/2014/main" id="{F7EFDFC3-F074-CAAF-E79A-A0071C03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" y="-27384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2" name="文本框 1">
            <a:extLst>
              <a:ext uri="{FF2B5EF4-FFF2-40B4-BE49-F238E27FC236}">
                <a16:creationId xmlns:a16="http://schemas.microsoft.com/office/drawing/2014/main" id="{E761BB68-04F4-DE83-830C-4F49E4A36BC3}"/>
              </a:ext>
            </a:extLst>
          </p:cNvPr>
          <p:cNvSpPr txBox="1"/>
          <p:nvPr/>
        </p:nvSpPr>
        <p:spPr>
          <a:xfrm>
            <a:off x="682625" y="1052513"/>
            <a:ext cx="850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文本框 1">
            <a:extLst>
              <a:ext uri="{FF2B5EF4-FFF2-40B4-BE49-F238E27FC236}">
                <a16:creationId xmlns:a16="http://schemas.microsoft.com/office/drawing/2014/main" id="{C12A508B-1D88-6659-9105-A595FA0FA75A}"/>
              </a:ext>
            </a:extLst>
          </p:cNvPr>
          <p:cNvSpPr txBox="1"/>
          <p:nvPr/>
        </p:nvSpPr>
        <p:spPr>
          <a:xfrm>
            <a:off x="4546980" y="2060848"/>
            <a:ext cx="4481830" cy="230832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Contribution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）按照频率划分信息：细节依赖高频。语义依赖低频，下采样语义损失也不严重。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b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设计网络：高频保持分辨率，低频的再用下采样。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en-US" altLang="zh-CN" dirty="0">
              <a:sym typeface="宋体" panose="02010600030101010101" pitchFamily="2" charset="-122"/>
            </a:endParaRPr>
          </a:p>
          <a:p>
            <a:r>
              <a:rPr lang="zh-CN" altLang="en-US" dirty="0">
                <a:sym typeface="宋体" panose="02010600030101010101" pitchFamily="2" charset="-122"/>
              </a:rPr>
              <a:t>（</a:t>
            </a:r>
            <a:r>
              <a:rPr lang="en-US" altLang="zh-CN" dirty="0">
                <a:sym typeface="宋体" panose="02010600030101010101" pitchFamily="2" charset="-122"/>
              </a:rPr>
              <a:t>2</a:t>
            </a:r>
            <a:r>
              <a:rPr lang="zh-CN" altLang="en-US" dirty="0">
                <a:sym typeface="宋体" panose="02010600030101010101" pitchFamily="2" charset="-122"/>
              </a:rPr>
              <a:t>）引入两个损失，解决多分支特征不一致和优化不平衡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BB0350-9429-5BF3-0B65-68D6BD41097C}"/>
              </a:ext>
            </a:extLst>
          </p:cNvPr>
          <p:cNvSpPr txBox="1"/>
          <p:nvPr/>
        </p:nvSpPr>
        <p:spPr>
          <a:xfrm>
            <a:off x="179512" y="1978675"/>
            <a:ext cx="42525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Motivation</a:t>
            </a:r>
            <a:r>
              <a:rPr lang="en-US" altLang="zh-CN" dirty="0">
                <a:sym typeface="+mn-ea"/>
              </a:rPr>
              <a:t>:</a:t>
            </a:r>
          </a:p>
          <a:p>
            <a:r>
              <a:rPr lang="en-US" altLang="zh-CN" dirty="0">
                <a:sym typeface="+mn-ea"/>
              </a:rPr>
              <a:t>UHR</a:t>
            </a:r>
            <a:r>
              <a:rPr lang="zh-CN" altLang="en-US" dirty="0">
                <a:sym typeface="+mn-ea"/>
              </a:rPr>
              <a:t>遥感图像，分辨率大，包含大量细节。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）整图</a:t>
            </a:r>
            <a:r>
              <a:rPr lang="en-US" altLang="zh-CN" dirty="0">
                <a:sym typeface="+mn-ea"/>
              </a:rPr>
              <a:t>~&gt;OOM</a:t>
            </a:r>
          </a:p>
          <a:p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）直接下采样</a:t>
            </a:r>
            <a:r>
              <a:rPr lang="en-US" altLang="zh-CN" dirty="0">
                <a:sym typeface="+mn-ea"/>
              </a:rPr>
              <a:t>~&gt;</a:t>
            </a:r>
            <a:r>
              <a:rPr lang="zh-CN" altLang="en-US" dirty="0">
                <a:sym typeface="+mn-ea"/>
              </a:rPr>
              <a:t>丢失细节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）切片</a:t>
            </a:r>
            <a:r>
              <a:rPr lang="en-US" altLang="zh-CN" dirty="0">
                <a:sym typeface="+mn-ea"/>
              </a:rPr>
              <a:t>~&gt;</a:t>
            </a:r>
            <a:r>
              <a:rPr lang="zh-CN" altLang="en-US" dirty="0">
                <a:sym typeface="+mn-ea"/>
              </a:rPr>
              <a:t>破坏全局上下文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现有的多分支的方法：</a:t>
            </a:r>
            <a:endParaRPr lang="en-US" altLang="zh-CN" dirty="0">
              <a:sym typeface="+mn-ea"/>
            </a:endParaRPr>
          </a:p>
          <a:p>
            <a:r>
              <a:rPr lang="zh-CN" altLang="en-US" b="1" dirty="0">
                <a:sym typeface="+mn-ea"/>
              </a:rPr>
              <a:t>全局分支</a:t>
            </a:r>
            <a:r>
              <a:rPr lang="zh-CN" altLang="en-US" dirty="0">
                <a:sym typeface="+mn-ea"/>
              </a:rPr>
              <a:t>处理整图得</a:t>
            </a:r>
            <a:r>
              <a:rPr lang="zh-CN" altLang="en-US" b="1" dirty="0">
                <a:sym typeface="+mn-ea"/>
              </a:rPr>
              <a:t>全局信息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b="1" dirty="0">
                <a:sym typeface="+mn-ea"/>
              </a:rPr>
              <a:t>局部分支</a:t>
            </a:r>
            <a:r>
              <a:rPr lang="zh-CN" altLang="en-US" dirty="0">
                <a:sym typeface="+mn-ea"/>
              </a:rPr>
              <a:t>处理切片得</a:t>
            </a:r>
            <a:r>
              <a:rPr lang="zh-CN" altLang="en-US" b="1" dirty="0">
                <a:sym typeface="+mn-ea"/>
              </a:rPr>
              <a:t>局部细节</a:t>
            </a:r>
            <a:endParaRPr lang="en-US" altLang="zh-CN" b="1" dirty="0">
              <a:sym typeface="+mn-ea"/>
            </a:endParaRPr>
          </a:p>
          <a:p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）切片量多、计算量大。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）多分支优化冲突</a:t>
            </a:r>
            <a:r>
              <a:rPr lang="en-US" altLang="zh-CN" dirty="0">
                <a:sym typeface="+mn-ea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3683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E58F-06B2-624A-27B3-73A0DCE66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89006820-9252-C9FA-87FB-D3C62D159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F43F7C-1808-43C4-BD47-4B0E9E5D7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1" y="987131"/>
            <a:ext cx="8904758" cy="488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66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7D4E-FC20-3DAE-9D8C-A6C97094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690F1FBD-587C-FBE6-55F1-2DF11A40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41031AC-0A38-4470-884F-A62EA7A5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556792"/>
            <a:ext cx="1933845" cy="423921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FB8449F-DE44-41A0-AD9E-5776C3C0F99D}"/>
              </a:ext>
            </a:extLst>
          </p:cNvPr>
          <p:cNvSpPr txBox="1"/>
          <p:nvPr/>
        </p:nvSpPr>
        <p:spPr>
          <a:xfrm>
            <a:off x="827584" y="1187460"/>
            <a:ext cx="4262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3.2. Adaptive Frequency Decomposition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3B2ACD-EA77-4EAA-88BA-8883F8085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1916832"/>
            <a:ext cx="4963218" cy="5048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DD36A6-1F22-4FAA-A95D-72942673F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815" y="2636912"/>
            <a:ext cx="4953691" cy="5430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18D682-0789-4F5C-8793-EAC8C945D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625" y="3498091"/>
            <a:ext cx="5153744" cy="4953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E999F2-0F41-42A3-8274-820A048910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440" y="4211599"/>
            <a:ext cx="4782217" cy="5430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1D0DBC-A67D-45F7-8495-D38AE62D0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5739" y="4940200"/>
            <a:ext cx="5391902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5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7D4E-FC20-3DAE-9D8C-A6C97094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690F1FBD-587C-FBE6-55F1-2DF11A40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68654A0-E78D-49E3-BD8D-47230E893927}"/>
              </a:ext>
            </a:extLst>
          </p:cNvPr>
          <p:cNvSpPr/>
          <p:nvPr/>
        </p:nvSpPr>
        <p:spPr>
          <a:xfrm>
            <a:off x="642880" y="1196752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3.4. Hybrid-Frequency Fusion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3F4910-0F70-4E5C-B1D6-7534475B8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310" y="1548022"/>
            <a:ext cx="4677428" cy="8764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FAE33E6-7EA4-4DB2-BC3F-B9B12B03B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01" y="2132856"/>
            <a:ext cx="2356908" cy="23014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87CEBC-5E57-4269-9D29-EE5703780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0" y="2447055"/>
            <a:ext cx="3839111" cy="6573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5D05DA9-708F-49C9-9BE4-B98C4C1B1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011" y="3358286"/>
            <a:ext cx="5458587" cy="7906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6CD38CC-A0AF-4C08-83E9-5B1AEA41E4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999" y="4177860"/>
            <a:ext cx="4753638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9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7D4E-FC20-3DAE-9D8C-A6C97094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690F1FBD-587C-FBE6-55F1-2DF11A40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C5113-0116-4ADE-B2B4-FAB9D760C306}"/>
              </a:ext>
            </a:extLst>
          </p:cNvPr>
          <p:cNvSpPr/>
          <p:nvPr/>
        </p:nvSpPr>
        <p:spPr>
          <a:xfrm>
            <a:off x="611560" y="1052736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3.5. Cross-Frequency Loss &amp; Optimization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B80144-AEAD-49B4-BF78-2D352D6ACC3D}"/>
              </a:ext>
            </a:extLst>
          </p:cNvPr>
          <p:cNvSpPr/>
          <p:nvPr/>
        </p:nvSpPr>
        <p:spPr>
          <a:xfrm>
            <a:off x="467544" y="1844824"/>
            <a:ext cx="7050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Cross-Frequency Alignment Loss</a:t>
            </a:r>
            <a:r>
              <a:rPr lang="en-US" altLang="zh-CN" dirty="0"/>
              <a:t>:</a:t>
            </a:r>
            <a:r>
              <a:rPr lang="zh-CN" altLang="en-US" dirty="0"/>
              <a:t>低频分支和高频分支在语义上一致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543A83-2960-41C5-9219-625BEFF18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474804"/>
            <a:ext cx="5382376" cy="65731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7E776C3-D2CF-411B-99DD-8F4F976609D7}"/>
              </a:ext>
            </a:extLst>
          </p:cNvPr>
          <p:cNvSpPr/>
          <p:nvPr/>
        </p:nvSpPr>
        <p:spPr>
          <a:xfrm>
            <a:off x="467544" y="3523097"/>
            <a:ext cx="5019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Cross-Frequency Balance Loss：解决梯度冲突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A82741-5B13-40BC-8669-0797F7134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718" y="4023375"/>
            <a:ext cx="2657846" cy="6477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65F07D-F7EA-44A5-A7ED-C1B4B02CC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664" y="5340188"/>
            <a:ext cx="4143953" cy="53347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2453FEC-FC29-4B28-B17B-CFBAF99DEF0C}"/>
              </a:ext>
            </a:extLst>
          </p:cNvPr>
          <p:cNvSpPr/>
          <p:nvPr/>
        </p:nvSpPr>
        <p:spPr>
          <a:xfrm>
            <a:off x="597674" y="4970856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2024931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7D4E-FC20-3DAE-9D8C-A6C97094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690F1FBD-587C-FBE6-55F1-2DF11A40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4053BB4-D67F-49D1-8038-3BEDBD4A9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908720"/>
            <a:ext cx="3816424" cy="581697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3864E08-2D6E-4A57-9ACB-78739E7FB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721" y="908720"/>
            <a:ext cx="4725059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84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7D4E-FC20-3DAE-9D8C-A6C97094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690F1FBD-587C-FBE6-55F1-2DF11A40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C8FC849-A97F-468D-81AE-04EF50CF4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1" y="908720"/>
            <a:ext cx="4322765" cy="26023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219E15D-CE74-4919-B50A-1899E96E7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06" y="908720"/>
            <a:ext cx="4543718" cy="23941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9975FE-6026-4850-8396-0545E3CC0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3516791"/>
            <a:ext cx="3456384" cy="32403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0E7CFD-6FCE-4F81-86FF-2A4DDAE921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088" y="3760021"/>
            <a:ext cx="4953691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95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C435A-5118-8419-79C1-16CE2826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076" descr="a4">
            <a:extLst>
              <a:ext uri="{FF2B5EF4-FFF2-40B4-BE49-F238E27FC236}">
                <a16:creationId xmlns:a16="http://schemas.microsoft.com/office/drawing/2014/main" id="{E510FE29-0954-9748-33D7-ECD253C4E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170708A-65AD-9631-C530-1DA8F9417FD7}"/>
              </a:ext>
            </a:extLst>
          </p:cNvPr>
          <p:cNvSpPr txBox="1"/>
          <p:nvPr/>
        </p:nvSpPr>
        <p:spPr>
          <a:xfrm>
            <a:off x="683568" y="980728"/>
            <a:ext cx="67687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启发与感悟：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zh-CN" altLang="en-US" dirty="0"/>
              <a:t>针对超大分辨率图像，应筛选不同区域，将更多的计算资源应用到前景目标上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实验进展：</a:t>
            </a:r>
            <a:endParaRPr lang="en-US" altLang="zh-CN" dirty="0"/>
          </a:p>
          <a:p>
            <a:r>
              <a:rPr lang="zh-CN" altLang="en-US" dirty="0"/>
              <a:t>风车目标检测：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）已经完成通用模型（</a:t>
            </a:r>
            <a:r>
              <a:rPr lang="en-US" altLang="zh-CN" dirty="0"/>
              <a:t>YOLO,DETR</a:t>
            </a:r>
            <a:r>
              <a:rPr lang="zh-CN" altLang="en-US" dirty="0"/>
              <a:t>等）</a:t>
            </a:r>
            <a:r>
              <a:rPr lang="en-US" altLang="zh-CN" dirty="0"/>
              <a:t>+SAHI</a:t>
            </a:r>
            <a:r>
              <a:rPr lang="zh-CN" altLang="en-US" dirty="0"/>
              <a:t>切片推理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）直接缩放的方法（缩放后目标太小），无法进行训练。</a:t>
            </a:r>
            <a:endParaRPr lang="en-US" altLang="zh-CN"/>
          </a:p>
          <a:p>
            <a:r>
              <a:rPr lang="en-US" altLang="zh-CN"/>
              <a:t>3</a:t>
            </a:r>
            <a:r>
              <a:rPr lang="zh-CN" altLang="en-US" dirty="0"/>
              <a:t>）大图模型在风车数据集上的复现（</a:t>
            </a:r>
            <a:r>
              <a:rPr lang="en-US" altLang="zh-CN" dirty="0" err="1"/>
              <a:t>spareformer,UHR</a:t>
            </a:r>
            <a:r>
              <a:rPr lang="en-US" altLang="zh-CN" dirty="0"/>
              <a:t>-DETR</a:t>
            </a:r>
            <a:r>
              <a:rPr lang="zh-CN" altLang="en-US" dirty="0"/>
              <a:t>等）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）大模型测试</a:t>
            </a:r>
            <a:r>
              <a:rPr lang="en-US" altLang="zh-CN" dirty="0" err="1"/>
              <a:t>locateanything</a:t>
            </a:r>
            <a:r>
              <a:rPr lang="zh-CN" altLang="en-US" dirty="0"/>
              <a:t>测试。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太阳能板分割：</a:t>
            </a:r>
            <a:br>
              <a:rPr lang="en-US" altLang="zh-CN" dirty="0"/>
            </a:br>
            <a:r>
              <a:rPr lang="zh-CN" altLang="en-US" dirty="0"/>
              <a:t>测试了切片</a:t>
            </a:r>
            <a:r>
              <a:rPr lang="en-US" altLang="zh-CN" dirty="0"/>
              <a:t>+</a:t>
            </a:r>
            <a:r>
              <a:rPr lang="zh-CN" altLang="en-US" dirty="0"/>
              <a:t>通用模型</a:t>
            </a:r>
            <a:r>
              <a:rPr lang="en-US" altLang="zh-CN" dirty="0"/>
              <a:t>U-NET</a:t>
            </a:r>
            <a:r>
              <a:rPr lang="zh-CN" altLang="en-US" dirty="0"/>
              <a:t>，</a:t>
            </a:r>
            <a:r>
              <a:rPr lang="en-US" altLang="zh-CN" dirty="0" err="1"/>
              <a:t>segformer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5096958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7271</TotalTime>
  <Words>446</Words>
  <Application>Microsoft Office PowerPoint</Application>
  <PresentationFormat>全屏显示(4:3)</PresentationFormat>
  <Paragraphs>69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宋体</vt:lpstr>
      <vt:lpstr>Arial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兆堃 李</cp:lastModifiedBy>
  <cp:revision>381</cp:revision>
  <dcterms:created xsi:type="dcterms:W3CDTF">2014-03-21T19:02:00Z</dcterms:created>
  <dcterms:modified xsi:type="dcterms:W3CDTF">2026-10-08T10:29:54Z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8C88F3E0A52A46C787C17C4C47FB1DE5_12</vt:lpwstr>
  </property>
  <property fmtid="{D5CDD505-2E9C-101B-9397-08002B2CF9AE}" pid="3" name="KSOProductBuildVer">
    <vt:lpwstr>2052-12.1.0.22529</vt:lpwstr>
  </property>
</Properties>
</file>